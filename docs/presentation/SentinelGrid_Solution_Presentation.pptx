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GUJARAT POLICE CCTV HACKATHON 2026</a:t>
            </a:r>
          </a:p>
          <a:p>
            <a:pPr>
              <a:defRPr sz="5400" b="1">
                <a:solidFill>
                  <a:srgbClr val="FFFFFF"/>
                </a:solidFill>
              </a:defRPr>
            </a:pPr>
            <a:r>
              <a:t>SentinelGrid</a:t>
            </a:r>
          </a:p>
          <a:p>
            <a:pPr>
              <a:defRPr sz="2200">
                <a:solidFill>
                  <a:srgbClr val="38BDF8"/>
                </a:solidFill>
              </a:defRPr>
            </a:pPr>
            <a:r>
              <a:t>Unified Statewide Smart Surveillance &amp; Predictive ANPR Interception Platform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Track: Computer Vision &amp; Multi-Camera Vehicle Tracking</a:t>
            </a:r>
            <a:br/>
            <a:r>
              <a:t>Architecture: 3-Tier Hierarchical Edge-Cluster (HEC) Hybrid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Slide 2: Problem Statement &amp; Operational Challenges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Gujarat Police CCTV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• Massive Scale &amp; Siloed Systems: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Over 80,000 heterogeneous cameras spread across 33 districts, municipal corporations, NHAI toll plazas, and maritime ports running disparate VMS (Hikvision, CP Plus, Dahua, Axis, Milestone).</a:t>
            </a:r>
            <a:br/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The 200 Gbps WAN Bottleneck: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Streaming uncompressed video centrally from 80k cameras requires ~200 to 320 Gbps of bandwidth, causing severe GSWAN congestion and immense infrastructure cost.</a:t>
            </a:r>
            <a:br/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Multi-Jurisdictional Blind Spots: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Inability to seamlessly track suspect vehicles moving across district and city commissionerate boundaries in real time.</a:t>
            </a:r>
            <a:br/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Evidentiary Inadmissibility: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Captured CCTV footage often lacks tamper-proof cryptographic proof, creating admissibility challenges under Section 65B Indian Evidence Act / Section 63 BSA 2023.</a:t>
            </a:r>
            <a:br/>
          </a:p>
        </p:txBody>
      </p:sp>
      <p:pic>
        <p:nvPicPr>
          <p:cNvPr id="5" name="Picture 4" descr="01_command_cent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332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Slide 3: High-Level Architecture (3-Tier HEC Model)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Gujarat Police CCTV Hackathon 2026</a:t>
            </a:r>
          </a:p>
        </p:txBody>
      </p:sp>
      <p:pic>
        <p:nvPicPr>
          <p:cNvPr id="4" name="Picture 3" descr="SentinelGrid_HL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66613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Slide 4: Technical Test Case Compliance (~50 Heterogeneous Cameras)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Gujarat Police CCTV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• Multi-Protocol Ingestion: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Successfully onboarded 50 heterogeneous camera feeds across RTSP, WebRTC (WHEP), HLS, and ONVIF from Gujarat Sentinel sandbox.</a:t>
            </a:r>
            <a:br/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Authentic Distribution: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Covers Ahmedabad Commissionerate, Surat Smart City, Vadodara NH-48 Corridor, Rajkot RUDA, Mundra Port SEZ, and Kevadia SOU Zone.</a:t>
            </a:r>
            <a:br/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Monotonic PTS Synchronization: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Uses Presentation Timestamps (PTS) to eliminate clock drift across multi-camera playback queues.</a:t>
            </a:r>
            <a:br/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Robust Reconnect &amp; Decoding: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Forced RTSP over TCP with exponential backoff auto-reconnect and non-fatal GOP join handling.</a:t>
            </a:r>
            <a:br/>
          </a:p>
        </p:txBody>
      </p:sp>
      <p:pic>
        <p:nvPicPr>
          <p:cNvPr id="5" name="Picture 4" descr="03_50_camera_cctv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59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Slide 5: Live Vehicle Tracking &amp; Trajectory Reconstruction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Gujarat Police CCTV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• Target Test Case: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Identified and continuously tracked target vehicle GJ01AB1234 (White Hyundai Creta / SUV).</a:t>
            </a:r>
            <a:br/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9 Sequential Checkpoints: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Traced transit across 9 major highway nodes: CAM01 Chimanbhai Bridge -&gt; Paldi -&gt; Adalaj -&gt; Delight -&gt; Mohanpura -&gt; Vadodara NH-48 -&gt; Bharuch Bridge -&gt; Surat -&gt; Navsari.</a:t>
            </a:r>
            <a:br/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Extracted Telematics: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Captured license plate string, vehicle body classification (SUV), color (White), velocity speed (55-84 km/h), and monotonic timestamps.</a:t>
            </a:r>
            <a:br/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Sub-Millisecond Screening: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Redis Cluster in-memory lookup verified active stolen vehicle FIR status in &lt; 1 ms.</a:t>
            </a:r>
            <a:br/>
          </a:p>
        </p:txBody>
      </p:sp>
      <p:pic>
        <p:nvPicPr>
          <p:cNvPr id="5" name="Picture 4" descr="06_gis_map_route_tra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59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Slide 6: AI Predictive Interception &amp; PCR Dispatch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Gujarat Police CCTV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• Escape Trajectory Modeling: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Real-time velocity vector engine analyzes vehicle heading and historical corridor speed to forecast downstream junctions.</a:t>
            </a:r>
            <a:br/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Roadblock Barrier ETAs: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Predicts exact arrival time at police interception points (Barricade Alpha / Bravo) allowing proactive containment.</a:t>
            </a:r>
            <a:br/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Automated Tactical PCR Routing: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Spatial radius indexing identifies nearest active PCR patrol vans (Sagar-22, Falcon-14).</a:t>
            </a:r>
            <a:br/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Operator Alerting: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Triggers Web Audio emergency sirens and synthetic voice announcements in control room.</a:t>
            </a:r>
            <a:br/>
          </a:p>
        </p:txBody>
      </p:sp>
      <p:pic>
        <p:nvPicPr>
          <p:cNvPr id="5" name="Picture 4" descr="07_predictive_intercept_advis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592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Slide 7: Section 65B Indian Evidence Act Forensic Integrity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Gujarat Police CCTV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• Automated Legal Dossiers: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Generates official electronic record certificates compliant with Section 65B(4) Indian Evidence Act / Section 63 BSA 2023.</a:t>
            </a:r>
            <a:br/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Cryptographic Chain of Custody: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Every frame and metadata record is hashed with SHA-256 (salted with Camera Hardware UUID + Monotonic PTS).</a:t>
            </a:r>
            <a:br/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Vahan &amp; Sarathi Telematics: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Integrates registered owner, chassis number, engine number, insurance status, and active FIR record.</a:t>
            </a:r>
            <a:br/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• Verification QR Code: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Enables court magistrates and investigating officers to verify certificate authenticity instantly.</a:t>
            </a:r>
            <a:br/>
          </a:p>
        </p:txBody>
      </p:sp>
      <p:pic>
        <p:nvPicPr>
          <p:cNvPr id="5" name="Picture 4" descr="09_section_65b_forensic_doss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6592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Slide 8: Statewide 80,000 Camera Scalability Blueprint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Gujarat Police CCTV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59E0B"/>
                </a:solidFill>
              </a:defRPr>
            </a:pPr>
            <a:r>
              <a:t>• Bill of Materials: 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66 High-Density 2U Edge Servers (2 per District) with 264 NVIDIA L4 GPUs + Gandhinagar SCCC Core &amp; Disaster Recovery Datacenter.</a:t>
            </a:r>
            <a:br/>
          </a:p>
          <a:p>
            <a:pPr>
              <a:defRPr b="1" sz="1500">
                <a:solidFill>
                  <a:srgbClr val="F59E0B"/>
                </a:solidFill>
              </a:defRPr>
            </a:pPr>
            <a:r>
              <a:t>• 99.8% Bandwidth Reduction: 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Transmits metadata and 10KB match crops over GSWAN (~380 Mbps total) rather than ~200 Gbps raw video.</a:t>
            </a:r>
            <a:br/>
          </a:p>
          <a:p>
            <a:pPr>
              <a:defRPr b="1" sz="1500">
                <a:solidFill>
                  <a:srgbClr val="F59E0B"/>
                </a:solidFill>
              </a:defRPr>
            </a:pPr>
            <a:r>
              <a:t>• Tiered Storage Architecture: 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Hot Storage (7 days NVMe 1080p continuous at edge) -&gt; Warm Storage (90 days central object storage) -&gt; Cold Archive (7 years encrypted Section 65B dossiers).</a:t>
            </a:r>
            <a:br/>
          </a:p>
          <a:p>
            <a:pPr>
              <a:defRPr b="1" sz="1500">
                <a:solidFill>
                  <a:srgbClr val="F59E0B"/>
                </a:solidFill>
              </a:defRPr>
            </a:pPr>
            <a:r>
              <a:t>• High Availability &amp; Offline Autonomy: 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   Active-Active DC-DR (Gandhinagar + Vadodara) with RPO &lt; 1s, RTO &lt; 15s. District edge nodes operate autonomously during network severance.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Slide 9: 12-Month Statewide Phased Rollout Plan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Gujarat Police CCTV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[Phase 1 (Months 1-3) — Gandhinagar SCCC Core &amp; Ahmedabad Pilot]: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10,000 cameras. Onboard Ahmedabad Police Commissionerate, SG Highway, AMC Smart City, and validate 65B legal workflows.</a:t>
            </a:r>
            <a:br/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[Phase 2 (Months 4-6) — Major Industrial &amp; City Hubs]: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25,000 cameras. Expand to Surat (SMC), Vadodara (VCP), Rajkot (RUDA), Jamnagar, and integrate NHAI expressways (NH-48, NE-1).</a:t>
            </a:r>
            <a:br/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[Phase 3 (Months 7-9) — Critical Infrastructure &amp; Coastal Grid]: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25,000 cameras. Integrate Mundra/Kandla ports, GMB coastal grid, pilgrimage corridors (Somnath/Dwarka), and border checkposts.</a:t>
            </a:r>
            <a:br/>
          </a:p>
          <a:p>
            <a:pPr>
              <a:defRPr b="1" sz="1400">
                <a:solidFill>
                  <a:srgbClr val="38BDF8"/>
                </a:solidFill>
              </a:defRPr>
            </a:pPr>
            <a:r>
              <a:t>[Phase 4 (Months 10-12) — Full Statewide Coverage &amp; Certification]: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20,000 cameras. Onboard remaining rural police stations, taluka junctions, complete statewide 80,000 camera load test and ISO/IEC 27001 audit.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Slide 10: Conclusion &amp; Competitive Differentiators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Gujarat Police CCTV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✔ 99.8% WAN Bandwidth Reduction: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Edge AI filtering resolves statewide network saturation.</a:t>
            </a:r>
            <a:br/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Vendor-Agnostic Interoperability: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No hardware rip-and-replace for CP Plus, Hikvision, Dahua, or Axis.</a:t>
            </a:r>
            <a:br/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Predictive Police Action: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Moves law enforcement from passive recording to active roadblock interception.</a:t>
            </a:r>
            <a:br/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Court-Admissible Forensics: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Guarantees Section 65B / BSA 2023 legal integrity with SHA-256 seals.</a:t>
            </a:r>
            <a:br/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✔ Fully Operational Demo: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Live system running with 50 camera streams, WebSocket alerts, and GIS dashboard.</a:t>
            </a:r>
            <a:br/>
          </a:p>
        </p:txBody>
      </p:sp>
      <p:pic>
        <p:nvPicPr>
          <p:cNvPr id="5" name="Picture 4" descr="05_live_challenge_alert_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5659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